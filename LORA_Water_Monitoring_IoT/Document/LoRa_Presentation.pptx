
<file path=[Content_Types].xml><?xml version="1.0" encoding="utf-8"?>
<Types xmlns="http://schemas.openxmlformats.org/package/2006/content-types">
  <Default Extension="png" ContentType="image/png"/>
  <Default Extension="jfif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ppt/drawings/drawing1.xml" ContentType="application/vnd.openxmlformats-officedocument.drawingml.chartshapes+xml"/>
  <Override PartName="/ppt/charts/chart2.xml" ContentType="application/vnd.openxmlformats-officedocument.drawingml.chart+xml"/>
  <Override PartName="/ppt/drawings/drawing2.xml" ContentType="application/vnd.openxmlformats-officedocument.drawingml.chartshapes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0" d="100"/>
          <a:sy n="70" d="100"/>
        </p:scale>
        <p:origin x="-96" y="-95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1.xml"/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2.xml"/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IN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US" sz="1800" b="0" i="0" u="none" strike="noStrike">
                <a:solidFill>
                  <a:srgbClr val="000000"/>
                </a:solidFill>
                <a:latin typeface="Arial"/>
              </a:rPr>
              <a:t>Tank 1 Water Level (illustrative)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125465728"/>
        <c:axId val="125467264"/>
      </c:barChart>
      <c:catAx>
        <c:axId val="1254657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7684"/>
                </a:solidFill>
                <a:latin typeface="Arial"/>
              </a:defRPr>
            </a:pPr>
            <a:endParaRPr lang="en-US"/>
          </a:p>
        </c:txPr>
        <c:crossAx val="125467264"/>
        <c:crosses val="autoZero"/>
        <c:auto val="1"/>
        <c:lblAlgn val="ctr"/>
        <c:lblOffset val="100"/>
        <c:noMultiLvlLbl val="1"/>
      </c:catAx>
      <c:valAx>
        <c:axId val="125467264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7684"/>
                </a:solidFill>
                <a:latin typeface="Arial"/>
              </a:defRPr>
            </a:pPr>
            <a:endParaRPr lang="en-US"/>
          </a:p>
        </c:txPr>
        <c:crossAx val="125465728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  <c:userShapes r:id="rId2"/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IN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US" sz="1800" b="0" i="0" u="none" strike="noStrike" dirty="0">
                <a:solidFill>
                  <a:srgbClr val="000000"/>
                </a:solidFill>
                <a:latin typeface="Arial"/>
              </a:rPr>
              <a:t>Tank 1 TDS Quality (illustrative)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125969152"/>
        <c:axId val="125970688"/>
      </c:barChart>
      <c:catAx>
        <c:axId val="12596915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7684"/>
                </a:solidFill>
                <a:latin typeface="Arial"/>
              </a:defRPr>
            </a:pPr>
            <a:endParaRPr lang="en-US"/>
          </a:p>
        </c:txPr>
        <c:crossAx val="125970688"/>
        <c:crosses val="autoZero"/>
        <c:auto val="1"/>
        <c:lblAlgn val="ctr"/>
        <c:lblOffset val="100"/>
        <c:noMultiLvlLbl val="1"/>
      </c:catAx>
      <c:valAx>
        <c:axId val="125970688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7684"/>
                </a:solidFill>
                <a:latin typeface="Arial"/>
              </a:defRPr>
            </a:pPr>
            <a:endParaRPr lang="en-US"/>
          </a:p>
        </c:txPr>
        <c:crossAx val="12596915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  <c:userShapes r:id="rId2"/>
</c:chartSpace>
</file>

<file path=ppt/drawings/_rels/drawing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3.jfif"/></Relationships>
</file>

<file path=ppt/drawings/_rels/drawing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4.jfif"/></Relationships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0.21399</cdr:x>
      <cdr:y>0.08905</cdr:y>
    </cdr:from>
    <cdr:to>
      <cdr:x>0.86096</cdr:x>
      <cdr:y>1</cdr:y>
    </cdr:to>
    <cdr:pic>
      <cdr:nvPicPr>
        <cdr:cNvPr id="3" name="Picture 2"/>
        <cdr:cNvPicPr/>
      </cdr:nvPicPr>
      <cdr:blipFill>
        <a:blip xmlns:a="http://schemas.openxmlformats.org/drawingml/2006/main" xmlns:r="http://schemas.openxmlformats.org/officeDocument/2006/relationships" r:embed="rId1" cstate="print">
          <a:extLst>
            <a:ext uri="{28A0092B-C50C-407E-A947-70E740481C1C}">
              <a14:useLocalDpi xmlns:a14="http://schemas.microsoft.com/office/drawing/2010/main" val="0"/>
            </a:ext>
          </a:extLst>
        </a:blip>
        <a:stretch xmlns:a="http://schemas.openxmlformats.org/drawingml/2006/main">
          <a:fillRect/>
        </a:stretch>
      </cdr:blipFill>
      <cdr:spPr>
        <a:xfrm xmlns:a="http://schemas.openxmlformats.org/drawingml/2006/main">
          <a:off x="1115326" y="244295"/>
          <a:ext cx="3372058" cy="2498905"/>
        </a:xfrm>
        <a:prstGeom xmlns:a="http://schemas.openxmlformats.org/drawingml/2006/main" prst="rect">
          <a:avLst/>
        </a:prstGeom>
      </cdr:spPr>
    </cdr:pic>
  </cdr:relSizeAnchor>
</c:userShapes>
</file>

<file path=ppt/drawings/drawing2.xml><?xml version="1.0" encoding="utf-8"?>
<c:userShapes xmlns:c="http://schemas.openxmlformats.org/drawingml/2006/chart">
  <cdr:relSizeAnchor xmlns:cdr="http://schemas.openxmlformats.org/drawingml/2006/chartDrawing">
    <cdr:from>
      <cdr:x>0.21399</cdr:x>
      <cdr:y>0.11891</cdr:y>
    </cdr:from>
    <cdr:to>
      <cdr:x>0.88976</cdr:x>
      <cdr:y>1</cdr:y>
    </cdr:to>
    <cdr:pic>
      <cdr:nvPicPr>
        <cdr:cNvPr id="3" name="Picture 2"/>
        <cdr:cNvPicPr/>
      </cdr:nvPicPr>
      <cdr:blipFill>
        <a:blip xmlns:a="http://schemas.openxmlformats.org/drawingml/2006/main" xmlns:r="http://schemas.openxmlformats.org/officeDocument/2006/relationships" r:embed="rId1" cstate="print">
          <a:extLst>
            <a:ext uri="{28A0092B-C50C-407E-A947-70E740481C1C}">
              <a14:useLocalDpi xmlns:a14="http://schemas.microsoft.com/office/drawing/2010/main" val="0"/>
            </a:ext>
          </a:extLst>
        </a:blip>
        <a:stretch xmlns:a="http://schemas.openxmlformats.org/drawingml/2006/main">
          <a:fillRect/>
        </a:stretch>
      </cdr:blipFill>
      <cdr:spPr>
        <a:xfrm xmlns:a="http://schemas.openxmlformats.org/drawingml/2006/main">
          <a:off x="1115325" y="326181"/>
          <a:ext cx="3522184" cy="2417019"/>
        </a:xfrm>
        <a:prstGeom xmlns:a="http://schemas.openxmlformats.org/drawingml/2006/main" prst="rect">
          <a:avLst/>
        </a:prstGeom>
      </cdr:spPr>
    </cdr:pic>
  </cdr:relSizeAnchor>
</c:userShape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18CD59-BC57-4C66-B132-B4680D813D7A}" type="datetimeFigureOut">
              <a:rPr lang="en-IN" smtClean="0"/>
              <a:t>02-07-2026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A829815-9C13-47EA-9635-439492955B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64904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chart" Target="../charts/char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15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2011680"/>
            <a:ext cx="7315200" cy="73152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961120" y="-914400"/>
            <a:ext cx="5486400" cy="5486400"/>
          </a:xfrm>
          <a:prstGeom prst="ellipse">
            <a:avLst/>
          </a:prstGeom>
          <a:solidFill>
            <a:srgbClr val="1C7293">
              <a:alpha val="5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875520" y="0"/>
            <a:ext cx="3657600" cy="3657600"/>
          </a:xfrm>
          <a:prstGeom prst="ellipse">
            <a:avLst/>
          </a:prstGeom>
          <a:solidFill>
            <a:srgbClr val="2FBF9F">
              <a:alpha val="4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640080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862" y="727862"/>
            <a:ext cx="555955" cy="55595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1554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kern="0" spc="100" dirty="0">
                <a:solidFill>
                  <a:srgbClr val="9FC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SRM INSTITUTE OF SCIENCE AND TECHNOLOGY · RAMAPURAM CAMPUS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40080" y="1965960"/>
            <a:ext cx="9601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LoRa Powered Water Management System</a:t>
            </a:r>
            <a:endParaRPr lang="en-US" sz="4000" dirty="0"/>
          </a:p>
        </p:txBody>
      </p:sp>
      <p:sp>
        <p:nvSpPr>
          <p:cNvPr id="9" name="Text 6"/>
          <p:cNvSpPr/>
          <p:nvPr/>
        </p:nvSpPr>
        <p:spPr>
          <a:xfrm>
            <a:off x="640080" y="306324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monitoring and control across multiple tanks for smart cities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640080" y="576072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40080" y="62636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 with Water Management Today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monitoring cannot keep pace with growing demand, spread-out tanks, and tightening resources.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2606040" cy="3840480"/>
          </a:xfrm>
          <a:prstGeom prst="roundRect">
            <a:avLst>
              <a:gd name="adj" fmla="val 2807"/>
            </a:avLst>
          </a:prstGeom>
          <a:solidFill>
            <a:srgbClr val="EAF4F8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2148840"/>
            <a:ext cx="594360" cy="594360"/>
          </a:xfrm>
          <a:prstGeom prst="ellipse">
            <a:avLst/>
          </a:prstGeom>
          <a:solidFill>
            <a:srgbClr val="D97706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563" y="2220163"/>
            <a:ext cx="451714" cy="45171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49808" y="2926080"/>
            <a:ext cx="22037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Overflow &amp; Wastage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49808" y="3474720"/>
            <a:ext cx="2203704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Unmonitored tanks overflow, wasting a precious resource while other areas face shortages.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429000" y="1874520"/>
            <a:ext cx="2606040" cy="3840480"/>
          </a:xfrm>
          <a:prstGeom prst="roundRect">
            <a:avLst>
              <a:gd name="adj" fmla="val 2807"/>
            </a:avLst>
          </a:prstGeom>
          <a:solidFill>
            <a:srgbClr val="EAF4F8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657600" y="2148840"/>
            <a:ext cx="594360" cy="59436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28923" y="2220163"/>
            <a:ext cx="451714" cy="45171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630168" y="2926080"/>
            <a:ext cx="22037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Methods Fail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3630168" y="3474720"/>
            <a:ext cx="2203704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Float switches and dipsticks are imprecise, labor-intensive, and error-prone at scale.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309360" y="1874520"/>
            <a:ext cx="2606040" cy="3840480"/>
          </a:xfrm>
          <a:prstGeom prst="roundRect">
            <a:avLst>
              <a:gd name="adj" fmla="val 2807"/>
            </a:avLst>
          </a:prstGeom>
          <a:solidFill>
            <a:srgbClr val="EAF4F8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537960" y="2148840"/>
            <a:ext cx="594360" cy="59436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09283" y="2220163"/>
            <a:ext cx="451714" cy="45171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510528" y="2926080"/>
            <a:ext cx="22037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Infrastructure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6510528" y="3474720"/>
            <a:ext cx="2203704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Ultrasonic upgrades and Wi-Fi gateways demand wiring and maintenance across large areas.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9189720" y="1874520"/>
            <a:ext cx="2606040" cy="3840480"/>
          </a:xfrm>
          <a:prstGeom prst="roundRect">
            <a:avLst>
              <a:gd name="adj" fmla="val 2807"/>
            </a:avLst>
          </a:prstGeom>
          <a:solidFill>
            <a:srgbClr val="EAF4F8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418320" y="2148840"/>
            <a:ext cx="594360" cy="59436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89643" y="2220163"/>
            <a:ext cx="451714" cy="45171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390888" y="2926080"/>
            <a:ext cx="22037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Sustainability at Risk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9390888" y="3474720"/>
            <a:ext cx="2203704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Population growth and climate change raise the stakes for equitable water distribution.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Building on a Rich Body of IoT Water-Monitoring Research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survey of 26 prior works informed the design choices behind this system.</a:t>
            </a:r>
            <a:endParaRPr lang="en-US" sz="1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64240" cy="4718304"/>
        </p:xfrm>
        <a:graphic>
          <a:graphicData uri="http://schemas.openxmlformats.org/drawingml/2006/table">
            <a:tbl>
              <a:tblPr/>
              <a:tblGrid>
                <a:gridCol w="3108960"/>
                <a:gridCol w="7955280"/>
              </a:tblGrid>
              <a:tr h="7863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Contribution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IoT + cloud analytics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Sensor + microcontroller pipelines with cloud dashboards for pollution alerts (Shanmugam et al.)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Low-cost turbidity sensing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LDR/photodiode-based nephelometric turbidity detection for budget deployments (Siahaan et al.)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ESP32-based tank control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GSM/ESP32 systems preventing leakage and wastage in supply lines (Chowdhury et al.)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Edge-enabled rural systems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Ultrasonic + Blynk platforms for rural household water tanks (Manikandan et al.)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LoRa for remote quality data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Raspberry Pi + LoRa transmitting pH/TDS/temperature to remote servers (Bin Ghazali et al.)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 at a Glance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9FC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nodes at every tank stream data through LoRa to a single gateway — no Wi-Fi, no complex wiring.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160020" y="2011680"/>
            <a:ext cx="1965960" cy="2377440"/>
          </a:xfrm>
          <a:prstGeom prst="roundRect">
            <a:avLst>
              <a:gd name="adj" fmla="val 4651"/>
            </a:avLst>
          </a:prstGeom>
          <a:solidFill>
            <a:srgbClr val="065A82"/>
          </a:solidFill>
          <a:ln/>
          <a:effectLst>
            <a:outerShdw blurRad="101600" dist="254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267712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9770" y="2344522"/>
            <a:ext cx="486461" cy="48646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69748" y="3063240"/>
            <a:ext cx="17465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Tank Sensors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288036" y="3520440"/>
            <a:ext cx="170992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HC-SR04 ultrasonic + TDS sensor per tank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2125980" y="3200400"/>
            <a:ext cx="502920" cy="0"/>
          </a:xfrm>
          <a:prstGeom prst="line">
            <a:avLst/>
          </a:prstGeom>
          <a:noFill/>
          <a:ln w="28575">
            <a:solidFill>
              <a:srgbClr val="2FBF9F"/>
            </a:solidFill>
            <a:prstDash val="solid"/>
            <a:tailEnd type="triangle"/>
          </a:ln>
        </p:spPr>
      </p:sp>
      <p:sp>
        <p:nvSpPr>
          <p:cNvPr id="10" name="Shape 7"/>
          <p:cNvSpPr/>
          <p:nvPr/>
        </p:nvSpPr>
        <p:spPr>
          <a:xfrm>
            <a:off x="2628900" y="2011680"/>
            <a:ext cx="1965960" cy="2377440"/>
          </a:xfrm>
          <a:prstGeom prst="roundRect">
            <a:avLst>
              <a:gd name="adj" fmla="val 4651"/>
            </a:avLst>
          </a:prstGeom>
          <a:solidFill>
            <a:srgbClr val="065A82"/>
          </a:solidFill>
          <a:ln/>
          <a:effectLst>
            <a:outerShdw blurRad="101600" dist="254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291840" y="2267712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68650" y="2344522"/>
            <a:ext cx="486461" cy="48646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738628" y="3063240"/>
            <a:ext cx="17465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Node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2756916" y="3520440"/>
            <a:ext cx="170992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Reads, calibrates, and packetizes data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4594860" y="3200400"/>
            <a:ext cx="502920" cy="0"/>
          </a:xfrm>
          <a:prstGeom prst="line">
            <a:avLst/>
          </a:prstGeom>
          <a:noFill/>
          <a:ln w="28575">
            <a:solidFill>
              <a:srgbClr val="2FBF9F"/>
            </a:solidFill>
            <a:prstDash val="solid"/>
            <a:tailEnd type="triangle"/>
          </a:ln>
        </p:spPr>
      </p:sp>
      <p:sp>
        <p:nvSpPr>
          <p:cNvPr id="16" name="Shape 12"/>
          <p:cNvSpPr/>
          <p:nvPr/>
        </p:nvSpPr>
        <p:spPr>
          <a:xfrm>
            <a:off x="5097780" y="2011680"/>
            <a:ext cx="1965960" cy="2377440"/>
          </a:xfrm>
          <a:prstGeom prst="roundRect">
            <a:avLst>
              <a:gd name="adj" fmla="val 4651"/>
            </a:avLst>
          </a:prstGeom>
          <a:solidFill>
            <a:srgbClr val="065A82"/>
          </a:solidFill>
          <a:ln/>
          <a:effectLst>
            <a:outerShdw blurRad="101600" dist="254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5760720" y="2267712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37530" y="2344522"/>
            <a:ext cx="486461" cy="486461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207508" y="3063240"/>
            <a:ext cx="17465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 Link</a:t>
            </a:r>
            <a:endParaRPr lang="en-US" sz="1350" dirty="0"/>
          </a:p>
        </p:txBody>
      </p:sp>
      <p:sp>
        <p:nvSpPr>
          <p:cNvPr id="20" name="Text 15"/>
          <p:cNvSpPr/>
          <p:nvPr/>
        </p:nvSpPr>
        <p:spPr>
          <a:xfrm>
            <a:off x="5225796" y="3520440"/>
            <a:ext cx="170992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433 MHz, up to 15 km line-of-sight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7063740" y="3200400"/>
            <a:ext cx="502920" cy="0"/>
          </a:xfrm>
          <a:prstGeom prst="line">
            <a:avLst/>
          </a:prstGeom>
          <a:noFill/>
          <a:ln w="28575">
            <a:solidFill>
              <a:srgbClr val="2FBF9F"/>
            </a:solidFill>
            <a:prstDash val="solid"/>
            <a:tailEnd type="triangle"/>
          </a:ln>
        </p:spPr>
      </p:sp>
      <p:sp>
        <p:nvSpPr>
          <p:cNvPr id="22" name="Shape 17"/>
          <p:cNvSpPr/>
          <p:nvPr/>
        </p:nvSpPr>
        <p:spPr>
          <a:xfrm>
            <a:off x="7566660" y="2011680"/>
            <a:ext cx="1965960" cy="2377440"/>
          </a:xfrm>
          <a:prstGeom prst="roundRect">
            <a:avLst>
              <a:gd name="adj" fmla="val 4651"/>
            </a:avLst>
          </a:prstGeom>
          <a:solidFill>
            <a:srgbClr val="065A82"/>
          </a:solidFill>
          <a:ln/>
          <a:effectLst>
            <a:outerShdw blurRad="101600" dist="254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8229600" y="2267712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06410" y="2344522"/>
            <a:ext cx="486461" cy="486461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676388" y="3063240"/>
            <a:ext cx="17465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Storage</a:t>
            </a:r>
            <a:endParaRPr lang="en-US" sz="1350" dirty="0"/>
          </a:p>
        </p:txBody>
      </p:sp>
      <p:sp>
        <p:nvSpPr>
          <p:cNvPr id="26" name="Text 20"/>
          <p:cNvSpPr/>
          <p:nvPr/>
        </p:nvSpPr>
        <p:spPr>
          <a:xfrm>
            <a:off x="7694676" y="3520440"/>
            <a:ext cx="170992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ThingSpeak stores &amp; analyzes readings</a:t>
            </a:r>
            <a:endParaRPr lang="en-US" sz="1050" dirty="0"/>
          </a:p>
        </p:txBody>
      </p:sp>
      <p:sp>
        <p:nvSpPr>
          <p:cNvPr id="27" name="Shape 21"/>
          <p:cNvSpPr/>
          <p:nvPr/>
        </p:nvSpPr>
        <p:spPr>
          <a:xfrm>
            <a:off x="9532620" y="3200400"/>
            <a:ext cx="502920" cy="0"/>
          </a:xfrm>
          <a:prstGeom prst="line">
            <a:avLst/>
          </a:prstGeom>
          <a:noFill/>
          <a:ln w="28575">
            <a:solidFill>
              <a:srgbClr val="2FBF9F"/>
            </a:solidFill>
            <a:prstDash val="solid"/>
            <a:tailEnd type="triangle"/>
          </a:ln>
        </p:spPr>
      </p:sp>
      <p:sp>
        <p:nvSpPr>
          <p:cNvPr id="28" name="Shape 22"/>
          <p:cNvSpPr/>
          <p:nvPr/>
        </p:nvSpPr>
        <p:spPr>
          <a:xfrm>
            <a:off x="10035540" y="2011680"/>
            <a:ext cx="1965960" cy="2377440"/>
          </a:xfrm>
          <a:prstGeom prst="roundRect">
            <a:avLst>
              <a:gd name="adj" fmla="val 4651"/>
            </a:avLst>
          </a:prstGeom>
          <a:solidFill>
            <a:srgbClr val="065A82"/>
          </a:solidFill>
          <a:ln/>
          <a:effectLst>
            <a:outerShdw blurRad="101600" dist="254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10698480" y="2267712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75290" y="2344522"/>
            <a:ext cx="486461" cy="486461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10145268" y="3063240"/>
            <a:ext cx="17465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</a:t>
            </a:r>
            <a:endParaRPr lang="en-US" sz="1350" dirty="0"/>
          </a:p>
        </p:txBody>
      </p:sp>
      <p:sp>
        <p:nvSpPr>
          <p:cNvPr id="32" name="Text 25"/>
          <p:cNvSpPr/>
          <p:nvPr/>
        </p:nvSpPr>
        <p:spPr>
          <a:xfrm>
            <a:off x="10163556" y="3520440"/>
            <a:ext cx="170992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Blynk dashboard, alerts, remote control</a:t>
            </a:r>
            <a:endParaRPr lang="en-US" sz="1050" dirty="0"/>
          </a:p>
        </p:txBody>
      </p:sp>
      <p:sp>
        <p:nvSpPr>
          <p:cNvPr id="33" name="Text 26"/>
          <p:cNvSpPr/>
          <p:nvPr/>
        </p:nvSpPr>
        <p:spPr>
          <a:xfrm>
            <a:off x="548640" y="48920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packet format:  [ Turbidity/TDS (ppm),  Water Level (%) ]</a:t>
            </a:r>
            <a:endParaRPr lang="en-US" sz="1400" dirty="0"/>
          </a:p>
        </p:txBody>
      </p:sp>
      <p:sp>
        <p:nvSpPr>
          <p:cNvPr id="34" name="Text 27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35" name="Text 28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C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Water Level Monitoring Logic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5852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HC-SR04 ultrasonic sensor times an echo to compute tank depth, then triggers automated pump control.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2148840"/>
            <a:ext cx="329184" cy="329184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142" y="2188342"/>
            <a:ext cx="250180" cy="2501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05840" y="2121408"/>
            <a:ext cx="5394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Microcontroller triggers the ultrasonic sensor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548640" y="2770632"/>
            <a:ext cx="329184" cy="329184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142" y="2810134"/>
            <a:ext cx="250180" cy="2501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05840" y="2743200"/>
            <a:ext cx="5394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Echo return time is converted into water depth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548640" y="3392424"/>
            <a:ext cx="329184" cy="329184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142" y="3431926"/>
            <a:ext cx="250180" cy="25018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05840" y="3364992"/>
            <a:ext cx="5394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 is compared against the fill-percentage thresholds</a:t>
            </a:r>
            <a:endParaRPr lang="en-US" sz="1250" dirty="0"/>
          </a:p>
        </p:txBody>
      </p:sp>
      <p:sp>
        <p:nvSpPr>
          <p:cNvPr id="13" name="Shape 8"/>
          <p:cNvSpPr/>
          <p:nvPr/>
        </p:nvSpPr>
        <p:spPr>
          <a:xfrm>
            <a:off x="548640" y="4014216"/>
            <a:ext cx="329184" cy="329184"/>
          </a:xfrm>
          <a:prstGeom prst="ellipse">
            <a:avLst/>
          </a:prstGeom>
          <a:solidFill>
            <a:srgbClr val="D97706"/>
          </a:solidFill>
          <a:ln/>
        </p:spPr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142" y="4053718"/>
            <a:ext cx="250180" cy="25018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005840" y="3986784"/>
            <a:ext cx="5394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25% → pump ON  ·  Above 25% → pump OFF</a:t>
            </a:r>
            <a:endParaRPr lang="en-US" sz="1250" dirty="0"/>
          </a:p>
        </p:txBody>
      </p:sp>
      <p:sp>
        <p:nvSpPr>
          <p:cNvPr id="16" name="Shape 10"/>
          <p:cNvSpPr/>
          <p:nvPr/>
        </p:nvSpPr>
        <p:spPr>
          <a:xfrm>
            <a:off x="548640" y="4636008"/>
            <a:ext cx="329184" cy="329184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142" y="4675510"/>
            <a:ext cx="250180" cy="25018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005840" y="4608576"/>
            <a:ext cx="5394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is packaged and transmitted via LoRa</a:t>
            </a:r>
            <a:endParaRPr lang="en-US" sz="1250" dirty="0"/>
          </a:p>
        </p:txBody>
      </p:sp>
      <p:sp>
        <p:nvSpPr>
          <p:cNvPr id="19" name="Shape 12"/>
          <p:cNvSpPr/>
          <p:nvPr/>
        </p:nvSpPr>
        <p:spPr>
          <a:xfrm>
            <a:off x="548640" y="5257800"/>
            <a:ext cx="329184" cy="329184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142" y="5297302"/>
            <a:ext cx="250180" cy="250180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1005840" y="5230368"/>
            <a:ext cx="5394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is stored in the cloud and shown in the app</a:t>
            </a:r>
            <a:endParaRPr lang="en-US" sz="1250" dirty="0"/>
          </a:p>
        </p:txBody>
      </p:sp>
      <p:sp>
        <p:nvSpPr>
          <p:cNvPr id="22" name="Shape 14"/>
          <p:cNvSpPr/>
          <p:nvPr/>
        </p:nvSpPr>
        <p:spPr>
          <a:xfrm>
            <a:off x="6766560" y="1051560"/>
            <a:ext cx="4846320" cy="5029200"/>
          </a:xfrm>
          <a:prstGeom prst="roundRect">
            <a:avLst>
              <a:gd name="adj" fmla="val 1887"/>
            </a:avLst>
          </a:prstGeom>
          <a:solidFill>
            <a:srgbClr val="EAF4F8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15"/>
          <p:cNvSpPr/>
          <p:nvPr/>
        </p:nvSpPr>
        <p:spPr>
          <a:xfrm>
            <a:off x="7086600" y="1371600"/>
            <a:ext cx="685800" cy="6858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4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68896" y="1453896"/>
            <a:ext cx="521208" cy="521208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7909560" y="146304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Non-contact &amp; interference-resistant</a:t>
            </a:r>
            <a:endParaRPr lang="en-US" sz="1400" dirty="0"/>
          </a:p>
        </p:txBody>
      </p:sp>
      <p:sp>
        <p:nvSpPr>
          <p:cNvPr id="26" name="Text 17"/>
          <p:cNvSpPr/>
          <p:nvPr/>
        </p:nvSpPr>
        <p:spPr>
          <a:xfrm>
            <a:off x="7040880" y="251460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25%</a:t>
            </a:r>
            <a:endParaRPr lang="en-US" sz="5600" dirty="0"/>
          </a:p>
        </p:txBody>
      </p:sp>
      <p:sp>
        <p:nvSpPr>
          <p:cNvPr id="27" name="Text 18"/>
          <p:cNvSpPr/>
          <p:nvPr/>
        </p:nvSpPr>
        <p:spPr>
          <a:xfrm>
            <a:off x="7086600" y="3429000"/>
            <a:ext cx="4206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low-level threshold that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A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switches the pump ON</a:t>
            </a:r>
            <a:endParaRPr lang="en-US" sz="1200" dirty="0"/>
          </a:p>
        </p:txBody>
      </p:sp>
      <p:sp>
        <p:nvSpPr>
          <p:cNvPr id="28" name="Shape 19"/>
          <p:cNvSpPr/>
          <p:nvPr/>
        </p:nvSpPr>
        <p:spPr>
          <a:xfrm>
            <a:off x="7086600" y="4206240"/>
            <a:ext cx="4206240" cy="0"/>
          </a:xfrm>
          <a:prstGeom prst="line">
            <a:avLst/>
          </a:prstGeom>
          <a:noFill/>
          <a:ln w="12700">
            <a:solidFill>
              <a:srgbClr val="C7DDE6"/>
            </a:solidFill>
            <a:prstDash val="solid"/>
          </a:ln>
        </p:spPr>
      </p:sp>
      <p:sp>
        <p:nvSpPr>
          <p:cNvPr id="29" name="Text 20"/>
          <p:cNvSpPr/>
          <p:nvPr/>
        </p:nvSpPr>
        <p:spPr>
          <a:xfrm>
            <a:off x="7086600" y="4434840"/>
            <a:ext cx="42062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Two-tank field tests showed synchronized level fluctuations, confirming consistent, interconnected usage patterns.</a:t>
            </a:r>
            <a:endParaRPr lang="en-US" sz="1250" dirty="0"/>
          </a:p>
        </p:txBody>
      </p:sp>
      <p:sp>
        <p:nvSpPr>
          <p:cNvPr id="30" name="Text 21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31" name="Text 22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Water Quality Monitoring with TDS Sensing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A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TDS sensor detects electrical conductivity and converts it into a dissolved-solids concentration (ppm).</a:t>
            </a:r>
            <a:endParaRPr lang="en-US" sz="13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6583680" cy="2834640"/>
        </p:xfrm>
        <a:graphic>
          <a:graphicData uri="http://schemas.openxmlformats.org/drawingml/2006/table">
            <a:tbl>
              <a:tblPr/>
              <a:tblGrid>
                <a:gridCol w="1737360"/>
                <a:gridCol w="1920240"/>
                <a:gridCol w="2926080"/>
              </a:tblGrid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TDS Level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Water Quality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Remarks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0 - 150 ppm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5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Excellent to Good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5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Ideal for drinking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5F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150 - 500 ppm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Fair to Poor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 affect taste; indicates pollution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500 - 1,000 ppm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Very Poor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recommended for drinking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1,000+ ppm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Unsafe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Highly contaminated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452360" y="1600200"/>
            <a:ext cx="4160520" cy="4480560"/>
          </a:xfrm>
          <a:prstGeom prst="roundRect">
            <a:avLst>
              <a:gd name="adj" fmla="val 2198"/>
            </a:avLst>
          </a:prstGeom>
          <a:solidFill>
            <a:srgbClr val="21295C"/>
          </a:solidFill>
          <a:ln/>
        </p:spPr>
      </p:sp>
      <p:sp>
        <p:nvSpPr>
          <p:cNvPr id="6" name="Shape 3"/>
          <p:cNvSpPr/>
          <p:nvPr/>
        </p:nvSpPr>
        <p:spPr>
          <a:xfrm>
            <a:off x="7772400" y="192024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49210" y="1997050"/>
            <a:ext cx="486461" cy="486461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772400" y="26974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Sensor-to-Cloud Flow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7772400" y="324612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FB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8092440" y="32461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TDS sensor reads conductivity</a:t>
            </a:r>
            <a:endParaRPr lang="en-US" sz="1150" dirty="0"/>
          </a:p>
        </p:txBody>
      </p:sp>
      <p:sp>
        <p:nvSpPr>
          <p:cNvPr id="11" name="Text 7"/>
          <p:cNvSpPr/>
          <p:nvPr/>
        </p:nvSpPr>
        <p:spPr>
          <a:xfrm>
            <a:off x="7772400" y="370332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FB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8092440" y="37033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converts to ppm value</a:t>
            </a:r>
            <a:endParaRPr lang="en-US" sz="1150" dirty="0"/>
          </a:p>
        </p:txBody>
      </p:sp>
      <p:sp>
        <p:nvSpPr>
          <p:cNvPr id="13" name="Text 9"/>
          <p:cNvSpPr/>
          <p:nvPr/>
        </p:nvSpPr>
        <p:spPr>
          <a:xfrm>
            <a:off x="7772400" y="416052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FB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8092440" y="41605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bracket is classified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7772400" y="461772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FB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8092440" y="46177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Packaged with water level %</a:t>
            </a:r>
            <a:endParaRPr lang="en-US" sz="1150" dirty="0"/>
          </a:p>
        </p:txBody>
      </p:sp>
      <p:sp>
        <p:nvSpPr>
          <p:cNvPr id="17" name="Text 13"/>
          <p:cNvSpPr/>
          <p:nvPr/>
        </p:nvSpPr>
        <p:spPr>
          <a:xfrm>
            <a:off x="7772400" y="507492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FB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8092440" y="50749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Transmitted via LoRa to cloud</a:t>
            </a:r>
            <a:endParaRPr lang="en-US" sz="1150" dirty="0"/>
          </a:p>
        </p:txBody>
      </p:sp>
      <p:sp>
        <p:nvSpPr>
          <p:cNvPr id="19" name="Text 15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LoRa? Long Range, Low Power, No Gateway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3429000" cy="1645920"/>
          </a:xfrm>
          <a:prstGeom prst="roundRect">
            <a:avLst>
              <a:gd name="adj" fmla="val 4444"/>
            </a:avLst>
          </a:prstGeom>
          <a:solidFill>
            <a:srgbClr val="EAF4F8"/>
          </a:solidFill>
          <a:ln/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77240" y="1325880"/>
            <a:ext cx="30175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433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777240" y="219456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MHz operating frequency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160520" y="1234440"/>
            <a:ext cx="3429000" cy="1645920"/>
          </a:xfrm>
          <a:prstGeom prst="roundRect">
            <a:avLst>
              <a:gd name="adj" fmla="val 4444"/>
            </a:avLst>
          </a:prstGeom>
          <a:solidFill>
            <a:srgbClr val="EAF4F8"/>
          </a:solidFill>
          <a:ln/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389120" y="1325880"/>
            <a:ext cx="30175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 km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4389120" y="219456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line-of-sight transmission range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772400" y="1234440"/>
            <a:ext cx="3429000" cy="1645920"/>
          </a:xfrm>
          <a:prstGeom prst="roundRect">
            <a:avLst>
              <a:gd name="adj" fmla="val 4444"/>
            </a:avLst>
          </a:prstGeom>
          <a:solidFill>
            <a:srgbClr val="EAF4F8"/>
          </a:solidFill>
          <a:ln/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001000" y="1325880"/>
            <a:ext cx="30175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1-by-1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8001000" y="219456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toggle mechanism avoids collisions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32004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 vs. Alternatives</a:t>
            </a:r>
            <a:endParaRPr lang="en-US" sz="16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611880"/>
          <a:ext cx="11064240" cy="2011680"/>
        </p:xfrm>
        <a:graphic>
          <a:graphicData uri="http://schemas.openxmlformats.org/drawingml/2006/table">
            <a:tbl>
              <a:tblPr/>
              <a:tblGrid>
                <a:gridCol w="2377440"/>
                <a:gridCol w="2834640"/>
                <a:gridCol w="2194560"/>
                <a:gridCol w="3657600"/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Protocol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Power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Verdict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Wi-Fi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Short, needs gateways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Complex, costly at scale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Bluetooth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Very short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Unsuitable for remote tanks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LoRa (433 MHz)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 to 15 km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Very low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Chosen for this system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4" name="Text 11"/>
          <p:cNvSpPr/>
          <p:nvPr/>
        </p:nvSpPr>
        <p:spPr>
          <a:xfrm>
            <a:off x="548640" y="55778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Sensor Packet to Mobile Dashboard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5394960" cy="3931920"/>
          </a:xfrm>
          <a:prstGeom prst="roundRect">
            <a:avLst>
              <a:gd name="adj" fmla="val 2326"/>
            </a:avLst>
          </a:prstGeom>
          <a:solidFill>
            <a:srgbClr val="065A82"/>
          </a:solidFill>
          <a:ln/>
          <a:effectLst>
            <a:outerShdw blurRad="101600" dist="25400" dir="2700000" algn="bl" rotWithShape="0">
              <a:srgbClr val="000000">
                <a:alpha val="2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68680" y="1554480"/>
            <a:ext cx="685800" cy="6858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976" y="1636776"/>
            <a:ext cx="521208" cy="5212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737360" y="1600200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ThingSpeak Cloud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914400" y="2423160"/>
            <a:ext cx="466344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receiver forwards all tank packets directly to the cloud — no extra gateway. Data is stored with encryption and redundancy, then visualized with gauges, alerts, and trend graphs.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217920" y="1234440"/>
            <a:ext cx="5394960" cy="3931920"/>
          </a:xfrm>
          <a:prstGeom prst="roundRect">
            <a:avLst>
              <a:gd name="adj" fmla="val 2326"/>
            </a:avLst>
          </a:prstGeom>
          <a:solidFill>
            <a:srgbClr val="065A82"/>
          </a:solidFill>
          <a:ln/>
          <a:effectLst>
            <a:outerShdw blurRad="101600" dist="25400" dir="2700000" algn="bl" rotWithShape="0">
              <a:srgbClr val="000000">
                <a:alpha val="2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537960" y="1554480"/>
            <a:ext cx="685800" cy="6858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0256" y="1636776"/>
            <a:ext cx="521208" cy="52120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406640" y="1600200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Blynk Mobile App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6583680" y="2423160"/>
            <a:ext cx="466344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Customizable dashboards show live TDS ppm, water level %, and pump status. Users set threshold notifications and adjust settings remotely from anywhere.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548640" y="54406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9FC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gauges  ·  Trend graphs  ·  Threshold alerts  ·  Remote pump control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C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Results: Reliable, Synchronized, Actionable Data</a:t>
            </a:r>
            <a:endParaRPr lang="en-US" sz="2700" dirty="0"/>
          </a:p>
        </p:txBody>
      </p:sp>
      <p:graphicFrame>
        <p:nvGraphicFramePr>
          <p:cNvPr id="3" name="Chart 0"/>
          <p:cNvGraphicFramePr/>
          <p:nvPr>
            <p:extLst>
              <p:ext uri="{D42A27DB-BD31-4B8C-83A1-F6EECF244321}">
                <p14:modId xmlns:p14="http://schemas.microsoft.com/office/powerpoint/2010/main" val="101779442"/>
              </p:ext>
            </p:extLst>
          </p:nvPr>
        </p:nvGraphicFramePr>
        <p:xfrm>
          <a:off x="548640" y="1188720"/>
          <a:ext cx="521208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4" name="Chart 1"/>
          <p:cNvGraphicFramePr/>
          <p:nvPr>
            <p:extLst>
              <p:ext uri="{D42A27DB-BD31-4B8C-83A1-F6EECF244321}">
                <p14:modId xmlns:p14="http://schemas.microsoft.com/office/powerpoint/2010/main" val="186121896"/>
              </p:ext>
            </p:extLst>
          </p:nvPr>
        </p:nvGraphicFramePr>
        <p:xfrm>
          <a:off x="6035040" y="1188720"/>
          <a:ext cx="521208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5" name="Shape 1"/>
          <p:cNvSpPr/>
          <p:nvPr/>
        </p:nvSpPr>
        <p:spPr>
          <a:xfrm>
            <a:off x="548640" y="4343400"/>
            <a:ext cx="292608" cy="29260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3753" y="4378513"/>
            <a:ext cx="222382" cy="222382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960120" y="4325112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Synchronized level fluctuations across two tanks confirmed interconnected, consistent usage patterns</a:t>
            </a:r>
            <a:endParaRPr lang="en-US" sz="1250" dirty="0"/>
          </a:p>
        </p:txBody>
      </p:sp>
      <p:sp>
        <p:nvSpPr>
          <p:cNvPr id="8" name="Shape 3"/>
          <p:cNvSpPr/>
          <p:nvPr/>
        </p:nvSpPr>
        <p:spPr>
          <a:xfrm>
            <a:off x="548640" y="4800600"/>
            <a:ext cx="292608" cy="29260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3753" y="4835713"/>
            <a:ext cx="222382" cy="222382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960120" y="4782312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Reliable packet delivery over LoRa with swift processing of </a:t>
            </a:r>
            <a:r>
              <a:rPr lang="en-US" sz="1250" dirty="0" smtClean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readings</a:t>
            </a:r>
            <a:endParaRPr lang="en-US" sz="1250" dirty="0"/>
          </a:p>
        </p:txBody>
      </p:sp>
      <p:sp>
        <p:nvSpPr>
          <p:cNvPr id="11" name="Shape 5"/>
          <p:cNvSpPr/>
          <p:nvPr/>
        </p:nvSpPr>
        <p:spPr>
          <a:xfrm>
            <a:off x="548640" y="5257800"/>
            <a:ext cx="292608" cy="29260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3753" y="5292913"/>
            <a:ext cx="222382" cy="222382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960120" y="5239512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TDS thresholds flagged in real time, highlighting potential contamination early</a:t>
            </a:r>
            <a:endParaRPr lang="en-US" sz="1250" dirty="0"/>
          </a:p>
        </p:txBody>
      </p:sp>
      <p:sp>
        <p:nvSpPr>
          <p:cNvPr id="15" name="Text 8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16" name="TextBox 15"/>
          <p:cNvSpPr txBox="1"/>
          <p:nvPr/>
        </p:nvSpPr>
        <p:spPr>
          <a:xfrm>
            <a:off x="2183640" y="1039959"/>
            <a:ext cx="24702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Water Quality in TANK 1</a:t>
            </a:r>
            <a:endParaRPr lang="en-IN" dirty="0"/>
          </a:p>
        </p:txBody>
      </p:sp>
      <p:sp>
        <p:nvSpPr>
          <p:cNvPr id="17" name="TextBox 16"/>
          <p:cNvSpPr txBox="1"/>
          <p:nvPr/>
        </p:nvSpPr>
        <p:spPr>
          <a:xfrm>
            <a:off x="7808792" y="1054972"/>
            <a:ext cx="24702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Water Quality in TANK 2</a:t>
            </a:r>
            <a:endParaRPr lang="en-IN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4114800"/>
            <a:ext cx="6400800" cy="64008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914400" y="4846320"/>
            <a:ext cx="4572000" cy="4572000"/>
          </a:xfrm>
          <a:prstGeom prst="ellipse">
            <a:avLst/>
          </a:prstGeom>
          <a:solidFill>
            <a:srgbClr val="1C7293">
              <a:alpha val="5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4864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Smarter, More Sustainable Path Forward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Combining ESP32 sensing with LoRa communication delivers a cost-effective, scalable system that prevents overflow, safeguards water quality, and puts control in every user's hands.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743200"/>
            <a:ext cx="594360" cy="59436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963" y="2814523"/>
            <a:ext cx="451714" cy="45171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25880" y="274320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Sustainability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325880" y="3127248"/>
            <a:ext cx="3017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FC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wastage and supports responsible resource management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48640" y="3794760"/>
            <a:ext cx="594360" cy="59436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963" y="3866083"/>
            <a:ext cx="451714" cy="45171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325880" y="379476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1325880" y="4178808"/>
            <a:ext cx="3017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FC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Relay-driven pump control minimizes manual checks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548640" y="4846320"/>
            <a:ext cx="594360" cy="59436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9963" y="4917643"/>
            <a:ext cx="451714" cy="45171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325880" y="484632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1325880" y="5230368"/>
            <a:ext cx="3017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FC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Multi-tank architecture with no added gateway cost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8686800" y="2743200"/>
            <a:ext cx="2926080" cy="2743200"/>
          </a:xfrm>
          <a:prstGeom prst="roundRect">
            <a:avLst>
              <a:gd name="adj" fmla="val 3333"/>
            </a:avLst>
          </a:prstGeom>
          <a:solidFill>
            <a:srgbClr val="065A82"/>
          </a:solidFill>
          <a:ln/>
        </p:spPr>
      </p:sp>
      <p:sp>
        <p:nvSpPr>
          <p:cNvPr id="19" name="Shape 14"/>
          <p:cNvSpPr/>
          <p:nvPr/>
        </p:nvSpPr>
        <p:spPr>
          <a:xfrm>
            <a:off x="9738360" y="3017520"/>
            <a:ext cx="822960" cy="8229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37115" y="3116275"/>
            <a:ext cx="625450" cy="62545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8686800" y="406908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800" dirty="0"/>
          </a:p>
        </p:txBody>
      </p:sp>
      <p:sp>
        <p:nvSpPr>
          <p:cNvPr id="22" name="Text 16"/>
          <p:cNvSpPr/>
          <p:nvPr/>
        </p:nvSpPr>
        <p:spPr>
          <a:xfrm>
            <a:off x="8686800" y="457200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ECE, SRM IST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Ramapuram Campus, Chennai</a:t>
            </a:r>
            <a:endParaRPr lang="en-US" sz="1050" dirty="0"/>
          </a:p>
        </p:txBody>
      </p:sp>
      <p:sp>
        <p:nvSpPr>
          <p:cNvPr id="23" name="Text 17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24" name="Text 18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C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809</Words>
  <Application>Microsoft Office PowerPoint</Application>
  <PresentationFormat>Custom</PresentationFormat>
  <Paragraphs>149</Paragraphs>
  <Slides>10</Slides>
  <Notes>10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LoRa Powered Water Management System</dc:title>
  <dc:subject>PptxGenJS Presentation</dc:subject>
  <dc:creator>SRM IST - Dept. of ECE</dc:creator>
  <cp:lastModifiedBy>Admin</cp:lastModifiedBy>
  <cp:revision>3</cp:revision>
  <dcterms:created xsi:type="dcterms:W3CDTF">2026-07-02T18:13:37Z</dcterms:created>
  <dcterms:modified xsi:type="dcterms:W3CDTF">2026-07-02T18:31:37Z</dcterms:modified>
</cp:coreProperties>
</file>